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9" r:id="rId9"/>
    <p:sldId id="265" r:id="rId10"/>
    <p:sldId id="274" r:id="rId11"/>
    <p:sldId id="262" r:id="rId12"/>
    <p:sldId id="263" r:id="rId13"/>
    <p:sldId id="264" r:id="rId14"/>
    <p:sldId id="266" r:id="rId15"/>
    <p:sldId id="267" r:id="rId16"/>
    <p:sldId id="268" r:id="rId17"/>
    <p:sldId id="270" r:id="rId18"/>
    <p:sldId id="272" r:id="rId19"/>
    <p:sldId id="27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7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2" d="100"/>
          <a:sy n="72" d="100"/>
        </p:scale>
        <p:origin x="1075" y="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1185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Fill in course name, lecturer/supervisor, and presentation date before presenting. Say: 'Good [morning], we are Group 10 presenting UDOMGo, an Android campus assistant app built for University of Dodoma students, for our IPT mobile app development project.'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every placeholder row with each group member's full name and registration number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motivation: students face scattered info, a large hard-to-navigate campus, and slow answers to routine questions — this is the gap UDOMGo fills.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problem in one breath, then walk through the 5 objective cards left to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High-level app pitch. The phone graphic on the right previews the 5-tab structure covered in detail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6 feature cards — these map directly to the app's Activities and Fragments shown in the next Android-structure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slide — paste real screenshots (phone or emulator) into each dashed box before presenting; delete the placeholder icon/text once an image is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Splash checks the saved session; unauthenticated users go through Login (Register auto-logs in too), authenticated users land straight on the Home shell, which hosts the 5 tabs. Logging out from Services clears the session and returns to Login (not drawn as a long arrow, to keep the diagram legible).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actor (Student) drives all 9 use cases. Login/Register are prerequisites; the other 7 use cases happen after authentication, inside the 5-tab home.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Room, no Retrofit, no Firebase — deliberately simple, raw SQLiteOpenHelper + OkHttp, which is worth mentioning if asked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exists to show the examiner we understand the Android building blocks taught in the course (Manifest, Activities vs Fragments, res/ structure, package layering) — not just what the app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clarifying slide: shows we know the difference between the Android Service component from the syllabus and our own ServicesFragment naming, and can explain how background/network work is actually handled (OkHttp async calls, not a Service).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representative use cases described in detail — enough depth for Q&amp;A without cluttering the slide with all nine.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tables total. Only one real foreign key exists in the schema (chat_history.user_email -&gt; users.email, cascade delete). Everything else is a logical/soft link via shared text values like college code or programme+year+semester — explained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place to pause for questions about database design trade-offs — why soft links instead of formal FKs, and how the AI is kept from reading private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message is saved locally first. The app then picks online (Gemini, which can call back into SQLite through a sandboxed read-only tool) or offline (pure local keyword matching) automatically, and both paths converge on the same rendered chat bubble with follow-up suggestions.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reflection: what was hard, and where the app could go next if development continued beyond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one-line pitch, invite questions. Good moment to open the app live if a device/emulator is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solidFill>
            <a:srgbClr val="E8630C">
              <a:alpha val="12000"/>
            </a:srgbClr>
          </a:solidFill>
          <a:ln w="12700">
            <a:solidFill>
              <a:srgbClr val="E863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976D2">
              <a:alpha val="18000"/>
            </a:srgbClr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4937760"/>
            <a:ext cx="914400" cy="914400"/>
          </a:xfrm>
          <a:prstGeom prst="ellipse">
            <a:avLst/>
          </a:prstGeom>
          <a:solidFill>
            <a:srgbClr val="E8630C">
              <a:alpha val="75000"/>
            </a:srgbClr>
          </a:solidFill>
          <a:ln w="12700">
            <a:solidFill>
              <a:srgbClr val="E863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9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 · GROUP 10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UDOM</a:t>
            </a:r>
            <a:r>
              <a:rPr lang="en-US" sz="6600" b="1" dirty="0">
                <a:solidFill>
                  <a:srgbClr val="E863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Campus Assistant for University of Dodoma Students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E8630C"/>
          </a:solidFill>
          <a:ln w="12700">
            <a:solidFill>
              <a:srgbClr val="E8630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977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Development · IPT Course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5669280"/>
            <a:ext cx="109728" cy="109728"/>
          </a:xfrm>
          <a:prstGeom prst="ellipse">
            <a:avLst/>
          </a:prstGeom>
          <a:solidFill>
            <a:srgbClr val="E8630C"/>
          </a:solidFill>
          <a:ln w="12700">
            <a:solidFill>
              <a:srgbClr val="E8630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5577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5806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development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0" y="5669280"/>
            <a:ext cx="109728" cy="109728"/>
          </a:xfrm>
          <a:prstGeom prst="ellipse">
            <a:avLst/>
          </a:prstGeom>
          <a:solidFill>
            <a:srgbClr val="E8630C"/>
          </a:solidFill>
          <a:ln w="12700">
            <a:solidFill>
              <a:srgbClr val="E8630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20840" y="5577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5806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23/09/2026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E86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10 Members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member's contribution to the design, development, and testing of UDOMGo.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15600" cy="422452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Name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 Number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[Full Name]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[Registration No.]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[Full Name]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[Registration No.]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[Full Name]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[Registration No.]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[Full Name]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[Registration No.]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[Full Name]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[Registration No.]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[Full Name]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[Registration No.]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UDOMGo — IPT Group 10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E86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to the Project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91640"/>
            <a:ext cx="5943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Dodoma (UDOM) students juggle timetables, professor office hours, exam dates, fees, hostel and transport information scattered across notice boards, offices and word of mouth.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specific building, office or service on a large campus is slow for new and continuing students alike.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a quick, reliable answer to a simple campus question ("Where is the CIVE office?", "When is the next exam?") often means physically asking around.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223760" y="1691640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E0F7FA"/>
          </a:solidFill>
          <a:ln w="12700">
            <a:solidFill>
              <a:srgbClr val="81D4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52360" y="1874520"/>
            <a:ext cx="457200" cy="457200"/>
          </a:xfrm>
          <a:prstGeom prst="ellipse">
            <a:avLst/>
          </a:prstGeom>
          <a:solidFill>
            <a:srgbClr val="E8630C"/>
          </a:solidFill>
          <a:ln w="12700">
            <a:solidFill>
              <a:srgbClr val="E8630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523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74152" y="1847088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Information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074152" y="2130552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Timetables, FAQs and contacts live in different offices, not one place.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223760" y="3108960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E0F7FA"/>
          </a:solidFill>
          <a:ln w="12700">
            <a:solidFill>
              <a:srgbClr val="81D4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52360" y="3291840"/>
            <a:ext cx="457200" cy="457200"/>
          </a:xfrm>
          <a:prstGeom prst="ellipse">
            <a:avLst/>
          </a:prstGeom>
          <a:solidFill>
            <a:srgbClr val="E8630C"/>
          </a:solidFill>
          <a:ln w="12700">
            <a:solidFill>
              <a:srgbClr val="E8630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5236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074152" y="3264408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Navigate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074152" y="3547872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campus is difficult to find your way around, especially for new students.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223760" y="4526280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E0F7FA"/>
          </a:solidFill>
          <a:ln w="12700">
            <a:solidFill>
              <a:srgbClr val="81D4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52360" y="4709160"/>
            <a:ext cx="457200" cy="457200"/>
          </a:xfrm>
          <a:prstGeom prst="ellipse">
            <a:avLst/>
          </a:prstGeom>
          <a:solidFill>
            <a:srgbClr val="E8630C"/>
          </a:solidFill>
          <a:ln w="12700">
            <a:solidFill>
              <a:srgbClr val="E8630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5236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074152" y="4681728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to Get Answers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074152" y="4965192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questions require asking staff in person, taking time out of the day.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UDOMGo — IPT Group 10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E86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60020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UDOM students lack a single, mobile, always-available way to get accurate campus information and find their way around — forcing them to rely on scattered, offline sources.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3291840"/>
            <a:ext cx="2048256" cy="2331720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" y="3456432"/>
            <a:ext cx="384048" cy="384048"/>
          </a:xfrm>
          <a:prstGeom prst="ellipse">
            <a:avLst/>
          </a:prstGeom>
          <a:solidFill>
            <a:srgbClr val="E8630C"/>
          </a:solidFill>
          <a:ln w="12700">
            <a:solidFill>
              <a:srgbClr val="E8630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7552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950208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Information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462272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timetables, professors, FAQs, calendar, fees and contacts into one app.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80944" y="3291840"/>
            <a:ext cx="2048256" cy="2331720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45536" y="3456432"/>
            <a:ext cx="384048" cy="384048"/>
          </a:xfrm>
          <a:prstGeom prst="ellipse">
            <a:avLst/>
          </a:prstGeom>
          <a:solidFill>
            <a:srgbClr val="E8630C"/>
          </a:solidFill>
          <a:ln w="12700">
            <a:solidFill>
              <a:srgbClr val="E863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45536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118104" y="3950208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Q&amp;A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118104" y="4462272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students ask questions in plain language and get grounded answers.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38928" y="3291840"/>
            <a:ext cx="2048256" cy="2331720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0" y="3456432"/>
            <a:ext cx="384048" cy="384048"/>
          </a:xfrm>
          <a:prstGeom prst="ellipse">
            <a:avLst/>
          </a:prstGeom>
          <a:solidFill>
            <a:srgbClr val="E8630C"/>
          </a:solidFill>
          <a:ln w="12700">
            <a:solidFill>
              <a:srgbClr val="E8630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0352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276088" y="3950208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Offline Too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276088" y="4462272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back to a local rule-based engine when there is no internet connection.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296912" y="3291840"/>
            <a:ext cx="2048256" cy="2331720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61504" y="3456432"/>
            <a:ext cx="384048" cy="384048"/>
          </a:xfrm>
          <a:prstGeom prst="ellipse">
            <a:avLst/>
          </a:prstGeom>
          <a:solidFill>
            <a:srgbClr val="E8630C"/>
          </a:solidFill>
          <a:ln w="12700">
            <a:solidFill>
              <a:srgbClr val="E8630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61504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434072" y="3950208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Navigation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434072" y="4462272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students find buildings and get walking directions on an interactive map.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454896" y="3291840"/>
            <a:ext cx="2048256" cy="2331720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19488" y="3456432"/>
            <a:ext cx="384048" cy="384048"/>
          </a:xfrm>
          <a:prstGeom prst="ellipse">
            <a:avLst/>
          </a:prstGeom>
          <a:solidFill>
            <a:srgbClr val="E8630C"/>
          </a:solidFill>
          <a:ln w="12700">
            <a:solidFill>
              <a:srgbClr val="E8630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19488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592056" y="3950208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Accounts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9592056" y="4462272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student their own login and a personalised, college-aware experience.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UDOMGo — IPT Group 10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BFDBDEB5-D2A3-5093-718A-403CBB7B9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688" y="209168"/>
            <a:ext cx="4317493" cy="64762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E86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UDOMGo — App Overview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91640"/>
            <a:ext cx="5852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■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UDOMGo is a native Android app that puts UDOM's campus knowledge and navigation in every student's pocket.</a:t>
            </a:r>
            <a:endParaRPr lang="en-US" sz="145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■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simple login, students pick their college and land in a 5-tab home: Home, Chat, Map, Guide and Services.</a:t>
            </a:r>
            <a:endParaRPr lang="en-US" sz="145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■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AI assistant (Google Gemini, with an offline fallback) answers questions using a local knowledge base — no need to leave the app or ask around campus.</a:t>
            </a:r>
            <a:endParaRPr lang="en-US" sz="145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■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campus map gives walking directions between buildings, powered by MapLibre and OpenStreetMap routing.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38744" y="458158"/>
            <a:ext cx="1840921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81D4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65270" y="580644"/>
            <a:ext cx="347472" cy="347472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56006" y="1496552"/>
            <a:ext cx="1765029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81D4F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048792" y="1586484"/>
            <a:ext cx="347472" cy="347472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7501162" y="1506474"/>
            <a:ext cx="1290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AI assistant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820229" y="1768792"/>
            <a:ext cx="1840921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81D4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26771" y="1858916"/>
            <a:ext cx="347472" cy="347472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10322506" y="17687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&amp; navigate campus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03720" y="3345149"/>
            <a:ext cx="1765029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81D4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32949" y="3445733"/>
            <a:ext cx="347472" cy="347472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7501162" y="3345149"/>
            <a:ext cx="10653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campus-life tips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439912" y="4540569"/>
            <a:ext cx="2139483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81D4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75688" y="4641153"/>
            <a:ext cx="347472" cy="347472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058936" y="4520367"/>
            <a:ext cx="1290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 one place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UDOMGo — IPT Group 10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839268" y="478360"/>
            <a:ext cx="11675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college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E86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383280" cy="2148840"/>
          </a:xfrm>
          <a:prstGeom prst="roundRect">
            <a:avLst>
              <a:gd name="adj" fmla="val 4255"/>
            </a:avLst>
          </a:prstGeom>
          <a:solidFill>
            <a:srgbClr val="E0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1892808"/>
            <a:ext cx="457200" cy="45720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412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46888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Register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2834640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SQLite-backed accounts (email + password) with a demo account and a "forgot password" helper.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407408" y="1691640"/>
            <a:ext cx="3383280" cy="2148840"/>
          </a:xfrm>
          <a:prstGeom prst="roundRect">
            <a:avLst>
              <a:gd name="adj" fmla="val 4255"/>
            </a:avLst>
          </a:prstGeom>
          <a:solidFill>
            <a:srgbClr val="E0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08576" y="1892808"/>
            <a:ext cx="457200" cy="45720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08576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08576" y="246888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— College Selection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608576" y="2834640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college/school (CIVE, CoBE, CoED, CHSS, CNMS, CoESE, SoL, SoMD, SoNPH, IDS, CI) to personalise content.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991856" y="1691640"/>
            <a:ext cx="3383280" cy="2148840"/>
          </a:xfrm>
          <a:prstGeom prst="roundRect">
            <a:avLst>
              <a:gd name="adj" fmla="val 4255"/>
            </a:avLst>
          </a:prstGeom>
          <a:solidFill>
            <a:srgbClr val="E0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93024" y="1892808"/>
            <a:ext cx="457200" cy="45720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93024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193024" y="246888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— AI Assistant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193024" y="2834640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timetables, professors, exams, fees &amp; more. Online: Gemini AI with tool-calling. Offline: local keyword-matching fallback.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822960" y="4041648"/>
            <a:ext cx="3383280" cy="2148840"/>
          </a:xfrm>
          <a:prstGeom prst="roundRect">
            <a:avLst>
              <a:gd name="adj" fmla="val 4255"/>
            </a:avLst>
          </a:prstGeom>
          <a:solidFill>
            <a:srgbClr val="FDFB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4242816"/>
            <a:ext cx="457200" cy="45720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4128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4818888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— Campus Navigation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5184648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MapLibre map of ~26 campus locations with search and walking-route directions (OSRM/OpenStreetMap).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407408" y="4041648"/>
            <a:ext cx="3383280" cy="2148840"/>
          </a:xfrm>
          <a:prstGeom prst="roundRect">
            <a:avLst>
              <a:gd name="adj" fmla="val 4255"/>
            </a:avLst>
          </a:prstGeom>
          <a:solidFill>
            <a:srgbClr val="FDFB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08576" y="4242816"/>
            <a:ext cx="457200" cy="45720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08576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08576" y="4818888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— Campus Tips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608576" y="5184648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always-available guidance on hostels, library, transport, health and campus life.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7991856" y="4041648"/>
            <a:ext cx="3383280" cy="2148840"/>
          </a:xfrm>
          <a:prstGeom prst="roundRect">
            <a:avLst>
              <a:gd name="adj" fmla="val 4255"/>
            </a:avLst>
          </a:prstGeom>
          <a:solidFill>
            <a:srgbClr val="FDFB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93024" y="4242816"/>
            <a:ext cx="457200" cy="45720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93024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193024" y="4818888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— Profile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193024" y="5184648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your profile, change password, and log out securely.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UDOMGo — IPT Group 10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1DD2CC85-E0BC-849E-73F8-9AD512B170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14"/>
          <a:stretch>
            <a:fillRect/>
          </a:stretch>
        </p:blipFill>
        <p:spPr>
          <a:xfrm>
            <a:off x="4976430" y="1333479"/>
            <a:ext cx="2106096" cy="456259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C52EE58-E4D3-A5E7-51A7-D0118EEED1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14"/>
          <a:stretch>
            <a:fillRect/>
          </a:stretch>
        </p:blipFill>
        <p:spPr>
          <a:xfrm>
            <a:off x="2689915" y="1340400"/>
            <a:ext cx="2106096" cy="456259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25B846E-9269-9B7D-FAB1-FD3D7B52A3C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138"/>
          <a:stretch>
            <a:fillRect/>
          </a:stretch>
        </p:blipFill>
        <p:spPr>
          <a:xfrm>
            <a:off x="387791" y="1360966"/>
            <a:ext cx="2115331" cy="456259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B740125E-A172-1600-1AC9-65E9DF39673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714"/>
          <a:stretch>
            <a:fillRect/>
          </a:stretch>
        </p:blipFill>
        <p:spPr>
          <a:xfrm>
            <a:off x="7299011" y="1333477"/>
            <a:ext cx="2106096" cy="45625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42AA7079-8EF0-2EAC-FA8E-98027D3C672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688"/>
          <a:stretch>
            <a:fillRect/>
          </a:stretch>
        </p:blipFill>
        <p:spPr>
          <a:xfrm>
            <a:off x="9616421" y="1333477"/>
            <a:ext cx="2115331" cy="45838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Text 0"/>
          <p:cNvSpPr txBox="1"/>
          <p:nvPr/>
        </p:nvSpPr>
        <p:spPr>
          <a:xfrm>
            <a:off x="457200" y="469206"/>
            <a:ext cx="1680162" cy="1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E86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4728298" y="172226"/>
            <a:ext cx="24306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Screens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87791" y="6035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795363" y="6035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— Colleges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137938" y="6035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— AI Assistant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70064" y="6035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— Directions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688510" y="6035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— Profile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UDOMGo — IPT Group 10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3">
            <a:extLst>
              <a:ext uri="{FF2B5EF4-FFF2-40B4-BE49-F238E27FC236}">
                <a16:creationId xmlns:a16="http://schemas.microsoft.com/office/drawing/2014/main" id="{C7E2182B-78E7-8E8C-113C-7357A001A609}"/>
              </a:ext>
            </a:extLst>
          </p:cNvPr>
          <p:cNvSpPr/>
          <p:nvPr/>
        </p:nvSpPr>
        <p:spPr>
          <a:xfrm>
            <a:off x="2824700" y="3639434"/>
            <a:ext cx="1737360" cy="563003"/>
          </a:xfrm>
          <a:prstGeom prst="roundRect">
            <a:avLst>
              <a:gd name="adj" fmla="val 11250"/>
            </a:avLst>
          </a:prstGeom>
          <a:solidFill>
            <a:srgbClr val="E0F7FA"/>
          </a:solidFill>
          <a:ln w="1587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ext 0"/>
          <p:cNvSpPr txBox="1"/>
          <p:nvPr/>
        </p:nvSpPr>
        <p:spPr>
          <a:xfrm>
            <a:off x="82296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E86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Flow — App Navigation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828800" cy="777240"/>
          </a:xfrm>
          <a:prstGeom prst="roundRect">
            <a:avLst>
              <a:gd name="adj" fmla="val 10588"/>
            </a:avLst>
          </a:prstGeom>
          <a:solidFill>
            <a:srgbClr val="E0F7FA"/>
          </a:solidFill>
          <a:ln w="15875">
            <a:solidFill>
              <a:srgbClr val="102A4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6092" y="1444752"/>
            <a:ext cx="136702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 Screen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(MainActivity)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34640" y="1234440"/>
            <a:ext cx="1828800" cy="1143000"/>
          </a:xfrm>
          <a:prstGeom prst="diamond">
            <a:avLst/>
          </a:prstGeom>
          <a:solidFill>
            <a:srgbClr val="E0F7FA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34640" y="123444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94960" y="1417320"/>
            <a:ext cx="2377440" cy="822960"/>
          </a:xfrm>
          <a:prstGeom prst="roundRect">
            <a:avLst>
              <a:gd name="adj" fmla="val 10000"/>
            </a:avLst>
          </a:prstGeom>
          <a:solidFill>
            <a:srgbClr val="E0F7FA"/>
          </a:solidFill>
          <a:ln w="15875">
            <a:solidFill>
              <a:srgbClr val="1976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40680" y="1444752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Shell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(HomeActivity)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Nav Bar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1805940"/>
            <a:ext cx="548640" cy="914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663440" y="1805940"/>
            <a:ext cx="731520" cy="228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4754880" y="148818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88906" y="4513752"/>
            <a:ext cx="952677" cy="563003"/>
          </a:xfrm>
          <a:prstGeom prst="roundRect">
            <a:avLst>
              <a:gd name="adj" fmla="val 11250"/>
            </a:avLst>
          </a:prstGeom>
          <a:solidFill>
            <a:srgbClr val="E0F7FA"/>
          </a:solidFill>
          <a:ln w="15875">
            <a:solidFill>
              <a:srgbClr val="102A4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03621" y="4453126"/>
            <a:ext cx="75518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Screen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0502" y="4871667"/>
            <a:ext cx="1828800" cy="731520"/>
          </a:xfrm>
          <a:prstGeom prst="roundRect">
            <a:avLst>
              <a:gd name="adj" fmla="val 11250"/>
            </a:avLst>
          </a:prstGeom>
          <a:solidFill>
            <a:srgbClr val="E0F7FA"/>
          </a:solidFill>
          <a:ln w="1587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83482"/>
            <a:ext cx="103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322308" y="1412748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FDFBF7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68028" y="1465326"/>
            <a:ext cx="1600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343099" y="4980736"/>
            <a:ext cx="795528" cy="29260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auto-login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324435" y="2269998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FDFBF7"/>
          </a:solidFill>
          <a:ln w="1587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26"/>
          <p:cNvSpPr txBox="1"/>
          <p:nvPr/>
        </p:nvSpPr>
        <p:spPr>
          <a:xfrm>
            <a:off x="9368028" y="2295144"/>
            <a:ext cx="1600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342191" y="3109705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FDFBF7"/>
          </a:solidFill>
          <a:ln w="1587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29"/>
          <p:cNvSpPr txBox="1"/>
          <p:nvPr/>
        </p:nvSpPr>
        <p:spPr>
          <a:xfrm>
            <a:off x="9692640" y="3141284"/>
            <a:ext cx="99308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322308" y="3953983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FDFBF7"/>
          </a:solidFill>
          <a:ln w="1587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32"/>
          <p:cNvSpPr txBox="1"/>
          <p:nvPr/>
        </p:nvSpPr>
        <p:spPr>
          <a:xfrm>
            <a:off x="9604247" y="3973920"/>
            <a:ext cx="1127761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342191" y="4819844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FDEAE0"/>
          </a:solidFill>
          <a:ln w="1587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7" name="Text 35"/>
          <p:cNvSpPr txBox="1"/>
          <p:nvPr/>
        </p:nvSpPr>
        <p:spPr>
          <a:xfrm>
            <a:off x="9387911" y="4864608"/>
            <a:ext cx="1600200" cy="424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2651760" y="532122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HomeActivity swaps these 5 Fragments in and out of one fragmentContainer via FragmentManager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342191" y="5846791"/>
            <a:ext cx="1691640" cy="548640"/>
          </a:xfrm>
          <a:prstGeom prst="roundRect">
            <a:avLst>
              <a:gd name="adj" fmla="val 13333"/>
            </a:avLst>
          </a:prstGeom>
          <a:solidFill>
            <a:srgbClr val="FDEAE0"/>
          </a:solidFill>
          <a:ln w="15875">
            <a:solidFill>
              <a:srgbClr val="E8630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Text 38"/>
          <p:cNvSpPr txBox="1"/>
          <p:nvPr/>
        </p:nvSpPr>
        <p:spPr>
          <a:xfrm>
            <a:off x="9671586" y="5926906"/>
            <a:ext cx="993082" cy="34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9784080" y="55114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6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UDOMGo — IPT Group 10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28FEDE14-2675-405C-414E-8408BAAC414B}"/>
              </a:ext>
            </a:extLst>
          </p:cNvPr>
          <p:cNvCxnSpPr>
            <a:stCxn id="8" idx="2"/>
          </p:cNvCxnSpPr>
          <p:nvPr/>
        </p:nvCxnSpPr>
        <p:spPr>
          <a:xfrm rot="16200000" flipH="1">
            <a:off x="6633015" y="2190945"/>
            <a:ext cx="1664208" cy="176287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7EBAD049-34B2-F4D0-E214-DDC4A28C9E14}"/>
              </a:ext>
            </a:extLst>
          </p:cNvPr>
          <p:cNvCxnSpPr>
            <a:cxnSpLocks/>
            <a:endCxn id="24" idx="1"/>
          </p:cNvCxnSpPr>
          <p:nvPr/>
        </p:nvCxnSpPr>
        <p:spPr>
          <a:xfrm rot="5400000" flipH="1" flipV="1">
            <a:off x="7760013" y="2342193"/>
            <a:ext cx="2148840" cy="9757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4BE9354D-B43C-E761-9B73-BE6E70957483}"/>
              </a:ext>
            </a:extLst>
          </p:cNvPr>
          <p:cNvCxnSpPr>
            <a:cxnSpLocks/>
            <a:endCxn id="36" idx="1"/>
          </p:cNvCxnSpPr>
          <p:nvPr/>
        </p:nvCxnSpPr>
        <p:spPr>
          <a:xfrm rot="16200000" flipH="1">
            <a:off x="8215246" y="4035799"/>
            <a:ext cx="1258256" cy="9956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C35EA43-07F0-7916-EF6F-A26CF5709004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8346558" y="2610612"/>
            <a:ext cx="977877" cy="2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22D9252-1564-4AFE-27C8-C867C16827E4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8346558" y="3450107"/>
            <a:ext cx="995633" cy="2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462A1E1-A5F0-770A-CC1D-1FA9458C1D0C}"/>
              </a:ext>
            </a:extLst>
          </p:cNvPr>
          <p:cNvCxnSpPr>
            <a:cxnSpLocks/>
            <a:endCxn id="33" idx="1"/>
          </p:cNvCxnSpPr>
          <p:nvPr/>
        </p:nvCxnSpPr>
        <p:spPr>
          <a:xfrm flipV="1">
            <a:off x="8346556" y="4296883"/>
            <a:ext cx="975752" cy="92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CD48840-BA7A-5AC8-0B5D-E8F80FF68DCC}"/>
              </a:ext>
            </a:extLst>
          </p:cNvPr>
          <p:cNvCxnSpPr>
            <a:cxnSpLocks/>
            <a:stCxn id="36" idx="2"/>
            <a:endCxn id="39" idx="0"/>
          </p:cNvCxnSpPr>
          <p:nvPr/>
        </p:nvCxnSpPr>
        <p:spPr>
          <a:xfrm>
            <a:off x="10188011" y="5505644"/>
            <a:ext cx="0" cy="341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5D80B57C-A1F0-B5D8-CCB5-146C549B2641}"/>
              </a:ext>
            </a:extLst>
          </p:cNvPr>
          <p:cNvCxnSpPr>
            <a:cxnSpLocks/>
          </p:cNvCxnSpPr>
          <p:nvPr/>
        </p:nvCxnSpPr>
        <p:spPr>
          <a:xfrm flipV="1">
            <a:off x="2299185" y="2266174"/>
            <a:ext cx="3551274" cy="2992260"/>
          </a:xfrm>
          <a:prstGeom prst="bentConnector3">
            <a:avLst>
              <a:gd name="adj1" fmla="val 1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12"/>
          <p:cNvSpPr txBox="1"/>
          <p:nvPr/>
        </p:nvSpPr>
        <p:spPr>
          <a:xfrm>
            <a:off x="3528627" y="2754429"/>
            <a:ext cx="440826" cy="30672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106" name="Text 14">
            <a:extLst>
              <a:ext uri="{FF2B5EF4-FFF2-40B4-BE49-F238E27FC236}">
                <a16:creationId xmlns:a16="http://schemas.microsoft.com/office/drawing/2014/main" id="{522621EF-641A-81BC-385C-554925FDBD21}"/>
              </a:ext>
            </a:extLst>
          </p:cNvPr>
          <p:cNvSpPr txBox="1"/>
          <p:nvPr/>
        </p:nvSpPr>
        <p:spPr>
          <a:xfrm>
            <a:off x="2918638" y="3562533"/>
            <a:ext cx="165336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an account</a:t>
            </a:r>
            <a:endParaRPr lang="en-US" sz="1100" dirty="0"/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2369E86-C990-D6CF-30AA-BE3D52FB3696}"/>
              </a:ext>
            </a:extLst>
          </p:cNvPr>
          <p:cNvCxnSpPr>
            <a:cxnSpLocks/>
            <a:stCxn id="14" idx="2"/>
            <a:endCxn id="106" idx="0"/>
          </p:cNvCxnSpPr>
          <p:nvPr/>
        </p:nvCxnSpPr>
        <p:spPr>
          <a:xfrm flipH="1">
            <a:off x="3745320" y="3061155"/>
            <a:ext cx="3720" cy="501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045889DF-ED49-2BF2-0C09-DC9A6DC5FCBA}"/>
              </a:ext>
            </a:extLst>
          </p:cNvPr>
          <p:cNvCxnSpPr>
            <a:cxnSpLocks/>
            <a:stCxn id="112" idx="1"/>
            <a:endCxn id="18" idx="0"/>
          </p:cNvCxnSpPr>
          <p:nvPr/>
        </p:nvCxnSpPr>
        <p:spPr>
          <a:xfrm rot="10800000" flipV="1">
            <a:off x="1341120" y="3920936"/>
            <a:ext cx="1483580" cy="96254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: Elbow 138">
            <a:extLst>
              <a:ext uri="{FF2B5EF4-FFF2-40B4-BE49-F238E27FC236}">
                <a16:creationId xmlns:a16="http://schemas.microsoft.com/office/drawing/2014/main" id="{6A4D2FCB-E510-B2E4-EAA6-F826FF275157}"/>
              </a:ext>
            </a:extLst>
          </p:cNvPr>
          <p:cNvCxnSpPr>
            <a:cxnSpLocks/>
            <a:stCxn id="106" idx="2"/>
            <a:endCxn id="15" idx="1"/>
          </p:cNvCxnSpPr>
          <p:nvPr/>
        </p:nvCxnSpPr>
        <p:spPr>
          <a:xfrm rot="16200000" flipH="1">
            <a:off x="3889081" y="4095428"/>
            <a:ext cx="556065" cy="84358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: Elbow 142">
            <a:extLst>
              <a:ext uri="{FF2B5EF4-FFF2-40B4-BE49-F238E27FC236}">
                <a16:creationId xmlns:a16="http://schemas.microsoft.com/office/drawing/2014/main" id="{E2312F62-F4C1-56AF-AA01-DD9C2BC59240}"/>
              </a:ext>
            </a:extLst>
          </p:cNvPr>
          <p:cNvCxnSpPr>
            <a:cxnSpLocks/>
            <a:stCxn id="16" idx="0"/>
          </p:cNvCxnSpPr>
          <p:nvPr/>
        </p:nvCxnSpPr>
        <p:spPr>
          <a:xfrm rot="5400000" flipH="1" flipV="1">
            <a:off x="4223847" y="3116251"/>
            <a:ext cx="2194242" cy="47950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A822DA47-1E86-FA76-E6E5-36AE9B83EC0C}"/>
              </a:ext>
            </a:extLst>
          </p:cNvPr>
          <p:cNvCxnSpPr>
            <a:stCxn id="7" idx="2"/>
            <a:endCxn id="14" idx="0"/>
          </p:cNvCxnSpPr>
          <p:nvPr/>
        </p:nvCxnSpPr>
        <p:spPr>
          <a:xfrm>
            <a:off x="3749040" y="2377440"/>
            <a:ext cx="0" cy="3769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 12">
            <a:extLst>
              <a:ext uri="{FF2B5EF4-FFF2-40B4-BE49-F238E27FC236}">
                <a16:creationId xmlns:a16="http://schemas.microsoft.com/office/drawing/2014/main" id="{A65C0BB6-0209-BF6B-5834-E8797528D65C}"/>
              </a:ext>
            </a:extLst>
          </p:cNvPr>
          <p:cNvSpPr txBox="1"/>
          <p:nvPr/>
        </p:nvSpPr>
        <p:spPr>
          <a:xfrm>
            <a:off x="1125884" y="3751125"/>
            <a:ext cx="440826" cy="30672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150" name="Text 12">
            <a:extLst>
              <a:ext uri="{FF2B5EF4-FFF2-40B4-BE49-F238E27FC236}">
                <a16:creationId xmlns:a16="http://schemas.microsoft.com/office/drawing/2014/main" id="{56F47C8B-470F-A917-DAD4-FFDFFF5E82AE}"/>
              </a:ext>
            </a:extLst>
          </p:cNvPr>
          <p:cNvSpPr txBox="1"/>
          <p:nvPr/>
        </p:nvSpPr>
        <p:spPr>
          <a:xfrm>
            <a:off x="3499862" y="4628276"/>
            <a:ext cx="440826" cy="30672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E86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13232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 — Actor: Student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46120" y="1417320"/>
            <a:ext cx="8229600" cy="5074920"/>
          </a:xfrm>
          <a:prstGeom prst="roundRect">
            <a:avLst>
              <a:gd name="adj" fmla="val 1081"/>
            </a:avLst>
          </a:prstGeom>
          <a:solidFill>
            <a:srgbClr val="FDFBF7"/>
          </a:solidFill>
          <a:ln w="19050">
            <a:solidFill>
              <a:srgbClr val="102A4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3429000" y="1490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UDOMGo System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58952" y="3246120"/>
            <a:ext cx="384048" cy="384048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530352" y="3648456"/>
            <a:ext cx="841248" cy="713232"/>
          </a:xfrm>
          <a:prstGeom prst="triangl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" y="44348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49040" y="1874520"/>
            <a:ext cx="233172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22192" y="1874520"/>
            <a:ext cx="2185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Account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874520"/>
            <a:ext cx="233172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73952" y="1874520"/>
            <a:ext cx="2185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1874520"/>
            <a:ext cx="233172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25712" y="1874520"/>
            <a:ext cx="2185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College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49040" y="2999232"/>
            <a:ext cx="233172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22192" y="2999232"/>
            <a:ext cx="2185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Assistant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2999232"/>
            <a:ext cx="233172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73952" y="2999232"/>
            <a:ext cx="2185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Campus Map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2560" y="2999232"/>
            <a:ext cx="233172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25712" y="2999232"/>
            <a:ext cx="2185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Walking Directions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49040" y="4123944"/>
            <a:ext cx="233172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822192" y="4123944"/>
            <a:ext cx="2185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Campus Guide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23944"/>
            <a:ext cx="233172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73952" y="4123944"/>
            <a:ext cx="2185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52560" y="4123944"/>
            <a:ext cx="233172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25712" y="4123944"/>
            <a:ext cx="2185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 flipV="1">
            <a:off x="1408176" y="2308860"/>
            <a:ext cx="2340864" cy="171450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 flipV="1">
            <a:off x="1408176" y="3433572"/>
            <a:ext cx="2340864" cy="589788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1408176" y="4023360"/>
            <a:ext cx="2340864" cy="53492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 txBox="1"/>
          <p:nvPr/>
        </p:nvSpPr>
        <p:spPr>
          <a:xfrm>
            <a:off x="365760" y="66019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performs every use case shown; lines are simplified to the 3 entry points for legibility.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UDOMGo — IPT Group 10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8F8B8B8-1EF7-6817-16D5-3C853671B441}"/>
              </a:ext>
            </a:extLst>
          </p:cNvPr>
          <p:cNvCxnSpPr>
            <a:stCxn id="9" idx="6"/>
            <a:endCxn id="11" idx="2"/>
          </p:cNvCxnSpPr>
          <p:nvPr/>
        </p:nvCxnSpPr>
        <p:spPr>
          <a:xfrm>
            <a:off x="6080760" y="2308860"/>
            <a:ext cx="32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9F8C5B7-8445-CBA7-50E3-25094B15B83D}"/>
              </a:ext>
            </a:extLst>
          </p:cNvPr>
          <p:cNvCxnSpPr>
            <a:stCxn id="11" idx="6"/>
            <a:endCxn id="13" idx="2"/>
          </p:cNvCxnSpPr>
          <p:nvPr/>
        </p:nvCxnSpPr>
        <p:spPr>
          <a:xfrm>
            <a:off x="8732520" y="2308860"/>
            <a:ext cx="32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73CC52C-CE8F-C783-F6F7-831F2B6393E2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6096000" y="3433572"/>
            <a:ext cx="30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8A49E68-1D28-E1FC-AD66-7A47DD91A832}"/>
              </a:ext>
            </a:extLst>
          </p:cNvPr>
          <p:cNvCxnSpPr>
            <a:stCxn id="21" idx="6"/>
            <a:endCxn id="23" idx="2"/>
          </p:cNvCxnSpPr>
          <p:nvPr/>
        </p:nvCxnSpPr>
        <p:spPr>
          <a:xfrm>
            <a:off x="6080760" y="4558284"/>
            <a:ext cx="32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9545D3A-298B-D18B-DC5D-CCC4CA50C5DB}"/>
              </a:ext>
            </a:extLst>
          </p:cNvPr>
          <p:cNvCxnSpPr>
            <a:stCxn id="17" idx="6"/>
            <a:endCxn id="19" idx="2"/>
          </p:cNvCxnSpPr>
          <p:nvPr/>
        </p:nvCxnSpPr>
        <p:spPr>
          <a:xfrm>
            <a:off x="8732520" y="3433572"/>
            <a:ext cx="32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E15C0D1-5287-27B9-8038-0AE2B65C78BD}"/>
              </a:ext>
            </a:extLst>
          </p:cNvPr>
          <p:cNvCxnSpPr>
            <a:stCxn id="23" idx="6"/>
            <a:endCxn id="25" idx="2"/>
          </p:cNvCxnSpPr>
          <p:nvPr/>
        </p:nvCxnSpPr>
        <p:spPr>
          <a:xfrm>
            <a:off x="8732520" y="4558284"/>
            <a:ext cx="32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C12634-86CB-60D2-5D6A-3AF939E1E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406" y="0"/>
            <a:ext cx="75091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229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480560"/>
            <a:ext cx="3840480" cy="3840480"/>
          </a:xfrm>
          <a:prstGeom prst="ellipse">
            <a:avLst/>
          </a:prstGeom>
          <a:solidFill>
            <a:srgbClr val="E8630C">
              <a:alpha val="12000"/>
            </a:srgbClr>
          </a:solidFill>
          <a:ln w="12700">
            <a:solidFill>
              <a:srgbClr val="E863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D99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0467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Tools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17334F"/>
          </a:solidFill>
          <a:ln w="12700">
            <a:solidFill>
              <a:srgbClr val="2447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91640"/>
            <a:ext cx="82296" cy="1051560"/>
          </a:xfrm>
          <a:prstGeom prst="roundRect">
            <a:avLst/>
          </a:prstGeom>
          <a:solidFill>
            <a:srgbClr val="E8630C"/>
          </a:solidFill>
          <a:ln w="12700">
            <a:solidFill>
              <a:srgbClr val="E8630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78992" y="1783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SDK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21031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Android SDK — minSdk 24, targetSdk 36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17334F"/>
          </a:solidFill>
          <a:ln w="12700">
            <a:solidFill>
              <a:srgbClr val="2447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691640"/>
            <a:ext cx="82296" cy="1051560"/>
          </a:xfrm>
          <a:prstGeom prst="roundRect">
            <a:avLst/>
          </a:prstGeom>
          <a:solidFill>
            <a:srgbClr val="E8630C"/>
          </a:solidFill>
          <a:ln w="12700">
            <a:solidFill>
              <a:srgbClr val="E8630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28232" y="1783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28232" y="21031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via SQLiteOpenHelper (raw, no Room) — 10 tables, schema v1→v9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22960" y="292608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17334F"/>
          </a:solidFill>
          <a:ln w="12700">
            <a:solidFill>
              <a:srgbClr val="2447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926080"/>
            <a:ext cx="82296" cy="1051560"/>
          </a:xfrm>
          <a:prstGeom prst="roundRect">
            <a:avLst/>
          </a:prstGeom>
          <a:solidFill>
            <a:srgbClr val="E8630C"/>
          </a:solidFill>
          <a:ln w="12700">
            <a:solidFill>
              <a:srgbClr val="E8630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78992" y="30175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" y="33375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 via OkHttp, with function/tool-calling for DB queries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172200" y="292608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17334F"/>
          </a:solidFill>
          <a:ln w="12700">
            <a:solidFill>
              <a:srgbClr val="2447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2926080"/>
            <a:ext cx="82296" cy="1051560"/>
          </a:xfrm>
          <a:prstGeom prst="roundRect">
            <a:avLst/>
          </a:prstGeom>
          <a:solidFill>
            <a:srgbClr val="E8630C"/>
          </a:solidFill>
          <a:ln w="12700">
            <a:solidFill>
              <a:srgbClr val="E8630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28232" y="30175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&amp; Navigation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28232" y="33375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MapLibre Android SDK · OpenFreeMap tiles · OSRM walking-route API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822960" y="416052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17334F"/>
          </a:solidFill>
          <a:ln w="12700">
            <a:solidFill>
              <a:srgbClr val="2447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4160520"/>
            <a:ext cx="82296" cy="1051560"/>
          </a:xfrm>
          <a:prstGeom prst="roundRect">
            <a:avLst/>
          </a:prstGeom>
          <a:solidFill>
            <a:srgbClr val="E8630C"/>
          </a:solidFill>
          <a:ln w="12700">
            <a:solidFill>
              <a:srgbClr val="E8630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78992" y="4251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Rendering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078992" y="45720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Markwon (Markdown + tables) for rich AI responses in chat bubbles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172200" y="416052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17334F"/>
          </a:solidFill>
          <a:ln w="12700">
            <a:solidFill>
              <a:srgbClr val="2447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4160520"/>
            <a:ext cx="82296" cy="1051560"/>
          </a:xfrm>
          <a:prstGeom prst="roundRect">
            <a:avLst/>
          </a:prstGeom>
          <a:solidFill>
            <a:srgbClr val="E8630C"/>
          </a:solidFill>
          <a:ln w="12700">
            <a:solidFill>
              <a:srgbClr val="E8630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28232" y="4251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Session/Settings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28232" y="45720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SharedPreferences (UserPreferences) for login session &amp; college choice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22960" y="539496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17334F"/>
          </a:solidFill>
          <a:ln w="12700">
            <a:solidFill>
              <a:srgbClr val="2447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5394960"/>
            <a:ext cx="82296" cy="1051560"/>
          </a:xfrm>
          <a:prstGeom prst="roundRect">
            <a:avLst/>
          </a:prstGeom>
          <a:solidFill>
            <a:srgbClr val="E8630C"/>
          </a:solidFill>
          <a:ln w="12700">
            <a:solidFill>
              <a:srgbClr val="E8630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78992" y="54864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078992" y="58064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OkHttp 4.12.0 for all REST calls to the Gemini API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6172200" y="539496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17334F"/>
          </a:solidFill>
          <a:ln w="12700">
            <a:solidFill>
              <a:srgbClr val="2447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72200" y="5394960"/>
            <a:ext cx="82296" cy="1051560"/>
          </a:xfrm>
          <a:prstGeom prst="roundRect">
            <a:avLst/>
          </a:prstGeom>
          <a:solidFill>
            <a:srgbClr val="E8630C"/>
          </a:solidFill>
          <a:ln w="12700">
            <a:solidFill>
              <a:srgbClr val="E8630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28232" y="54864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Config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6428232" y="58064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(Kotlin DSL) — API key injected from local.properties, kept out of git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UDOMGo — IPT Group 10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E86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LEARNT, APPLIED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5895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 Project Structure — Components We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5166360" cy="2331720"/>
          </a:xfrm>
          <a:prstGeom prst="roundRect">
            <a:avLst>
              <a:gd name="adj" fmla="val 3922"/>
            </a:avLst>
          </a:prstGeom>
          <a:solidFill>
            <a:srgbClr val="E0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1783080"/>
            <a:ext cx="420624" cy="42062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4128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7647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057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6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AndroidManifest.xml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46888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■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4 Activities — MainActivity (LAUNCHER), LoginActivity, RegisterActivity, HomeActivity</a:t>
            </a:r>
            <a:endParaRPr lang="en-US" sz="1000" dirty="0"/>
          </a:p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■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INTERNET, ACCESS_NETWORK_STATE, ACCESS_COARSE/FINE_LOCATION permissions</a:t>
            </a:r>
            <a:endParaRPr lang="en-US" sz="1000" dirty="0"/>
          </a:p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■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app theme and windowSoftInputMode="adjustResize" on every screen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166360" cy="2331720"/>
          </a:xfrm>
          <a:prstGeom prst="roundRect">
            <a:avLst>
              <a:gd name="adj" fmla="val 3922"/>
            </a:avLst>
          </a:prstGeom>
          <a:solidFill>
            <a:srgbClr val="E0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64808" y="1783080"/>
            <a:ext cx="420624" cy="42062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64808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17647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&amp; Fragments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057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6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building blocks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46888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■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Activities = full screens / entry points (splash, login, register, main shell)</a:t>
            </a:r>
            <a:endParaRPr lang="en-US" sz="1000" dirty="0"/>
          </a:p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■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Fragments — Home, Chat, Map, Guide, Services — swapped inside HomeActivity's single container</a:t>
            </a:r>
            <a:endParaRPr lang="en-US" sz="1000" dirty="0"/>
          </a:p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■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with plain FragmentManager.replace()+commit() — no Navigation-graph XML used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5166360" cy="2331720"/>
          </a:xfrm>
          <a:prstGeom prst="roundRect">
            <a:avLst>
              <a:gd name="adj" fmla="val 3922"/>
            </a:avLst>
          </a:prstGeom>
          <a:solidFill>
            <a:srgbClr val="FDFB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" y="4343400"/>
            <a:ext cx="420624" cy="42062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24128" y="4343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3251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res/ Folders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4617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6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502920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■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layout/ — 9 XML screens, one per Activity/Fragment</a:t>
            </a:r>
            <a:endParaRPr lang="en-US" sz="1000" dirty="0"/>
          </a:p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■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drawable/ — icons (ic_history, ic_menu), backgrounds (followup_pill_bg), images (udom_logo)</a:t>
            </a:r>
            <a:endParaRPr lang="en-US" sz="1000" dirty="0"/>
          </a:p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■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values/ — strings.xml, themes.xml, colors.xml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4160520"/>
            <a:ext cx="5166360" cy="2331720"/>
          </a:xfrm>
          <a:prstGeom prst="roundRect">
            <a:avLst>
              <a:gd name="adj" fmla="val 3922"/>
            </a:avLst>
          </a:prstGeom>
          <a:solidFill>
            <a:srgbClr val="FDFB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64808" y="4343400"/>
            <a:ext cx="420624" cy="42062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64808" y="4343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43251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Packages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4617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6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com.example.udomgo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502920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■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layer: Activities + Fragments</a:t>
            </a:r>
            <a:endParaRPr lang="en-US" sz="1000" dirty="0"/>
          </a:p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■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layer: DatabaseHelper (SQLite)</a:t>
            </a:r>
            <a:endParaRPr lang="en-US" sz="1000" dirty="0"/>
          </a:p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■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Settings/session layer: UserPreferences (SharedPreferences)</a:t>
            </a:r>
            <a:endParaRPr lang="en-US" sz="1000" dirty="0"/>
          </a:p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■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layer: AiService (Gemini/OkHttp) + MapLocation model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UDOMGo — IPT Group 10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E86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DISTINCTION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 "Service" Component vs. Our ServicesFragment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074920" cy="356616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194560"/>
            <a:ext cx="457200" cy="4572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22199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Service Component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5420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(course concept — not used in UDOMGo)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971800"/>
            <a:ext cx="4526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■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/ IntentService class taught in class runs long-lived work in the background, independent of any UI screen.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■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UDOMGo has no background Service — there is no need for work that must keep running after a screen closes.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074920" cy="3566160"/>
          </a:xfrm>
          <a:prstGeom prst="roundRect">
            <a:avLst>
              <a:gd name="adj" fmla="val 2564"/>
            </a:avLst>
          </a:prstGeom>
          <a:solidFill>
            <a:srgbClr val="E0F7FA"/>
          </a:solidFill>
          <a:ln w="15875">
            <a:solidFill>
              <a:srgbClr val="1976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194560"/>
            <a:ext cx="457200" cy="457200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22199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ServicesFragment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5420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(just a screen name — a UI Fragment)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971800"/>
            <a:ext cx="4526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■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ServicesFragment is one of our 5 tabs — a normal UI screen for profile, change-password and logout.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■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an Android Service class; the name describes "account services" for the student, not a background component.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297680"/>
            <a:ext cx="10424160" cy="1005840"/>
          </a:xfrm>
          <a:prstGeom prst="roundRect">
            <a:avLst>
              <a:gd name="adj" fmla="val 727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29768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where does background work happen? Network calls to the Gemini AI run asynchronously through OkHttp's call queue, off the main UI thread — a valid, lightweight alternative to a Service for short-lived request/response work like a chat reply.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UDOMGo — IPT Group 10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E86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IN DETAIL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5895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Descriptions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08760"/>
          <a:ext cx="10515600" cy="48463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Precondition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Flow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Postcondition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has a registered account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 email &amp; password → app validates against SQLite → session saved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lands on Home shell, logged 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AI Assistant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is logged in, on Chat tab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Type/tap a question → online: Gemini + tool-calling, or offline: local keyword match → answer rendered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shown with follow-up suggestions; saved to chat history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Walking Directions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is on the Map tab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Search/select a destination → app calculates route via OSRM → route drawn on map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&amp; route shown; student can start navigating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Password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is logged in, on Services tab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change-password dialog → enter current &amp; new password → confirm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 updated in SQLite; student can log in with new password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UDOMGo — IPT Group 10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59">
            <a:extLst>
              <a:ext uri="{FF2B5EF4-FFF2-40B4-BE49-F238E27FC236}">
                <a16:creationId xmlns:a16="http://schemas.microsoft.com/office/drawing/2014/main" id="{C7E061B1-24E4-ED68-3A3F-2A37ABFB0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490" y="0"/>
            <a:ext cx="102910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E86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DESIGN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ERD — Key Relationships Explained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50749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783080"/>
            <a:ext cx="402336" cy="40233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830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hard foreign key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860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chat_history.user_email → users.email, ON DELETE CASCADE. Deleting a user automatically clears their chat history — a real, enforced 1-to-many relationship.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0749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783080"/>
            <a:ext cx="402336" cy="40233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17830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"college code" hub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2860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professors, student_leaders, campus_contacts, campus_locations and campus_faqs all share the same college vocabulary (CIVE, CoBE, CoED, …). They are logically linked by matching text, not a formal FK — a deliberate simplification for a single-app SQLite schema.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822960" y="3383280"/>
            <a:ext cx="50749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3566160"/>
            <a:ext cx="402336" cy="40233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5661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Programme, year &amp; semester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0690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and timetables both key off programme + year_of_study + semester, letting the app join a course to its scheduled sessions without a dedicated join table.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6172200" y="3383280"/>
            <a:ext cx="50749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3566160"/>
            <a:ext cx="402336" cy="402336"/>
          </a:xfrm>
          <a:prstGeom prst="ellipse">
            <a:avLst/>
          </a:prstGeom>
          <a:solidFill>
            <a:srgbClr val="E8630C"/>
          </a:solidFill>
          <a:ln w="12700">
            <a:solidFill>
              <a:srgbClr val="E8630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35661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safety boundary: executeReadOnlySql()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0690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assistant only reaches the database through a sandboxed read-only query method — it blocks INSERT/UPDATE/DELETE/DROP and explicitly refuses to touch users or chat_history, protecting student privacy even though the model can write its own SQL.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UDOMGo — IPT Group 10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952FD8F-F140-080E-7741-7C6731E1C43A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6126480" y="1847088"/>
            <a:ext cx="0" cy="2834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46B429A0-A400-995C-7F64-569804C5FCE1}"/>
              </a:ext>
            </a:extLst>
          </p:cNvPr>
          <p:cNvCxnSpPr>
            <a:stCxn id="9" idx="3"/>
            <a:endCxn id="20" idx="0"/>
          </p:cNvCxnSpPr>
          <p:nvPr/>
        </p:nvCxnSpPr>
        <p:spPr>
          <a:xfrm>
            <a:off x="7772400" y="3406140"/>
            <a:ext cx="2103120" cy="96469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48744009-4EAD-2238-2866-252692CAD222}"/>
              </a:ext>
            </a:extLst>
          </p:cNvPr>
          <p:cNvCxnSpPr>
            <a:cxnSpLocks/>
            <a:stCxn id="9" idx="1"/>
            <a:endCxn id="13" idx="0"/>
          </p:cNvCxnSpPr>
          <p:nvPr/>
        </p:nvCxnSpPr>
        <p:spPr>
          <a:xfrm rot="10800000" flipV="1">
            <a:off x="2240280" y="3406140"/>
            <a:ext cx="2240280" cy="96469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Text 0"/>
          <p:cNvSpPr txBox="1"/>
          <p:nvPr/>
        </p:nvSpPr>
        <p:spPr>
          <a:xfrm>
            <a:off x="82296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E86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400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Flow — Asking the AI Assistant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297680" y="1234440"/>
            <a:ext cx="365760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5875">
            <a:solidFill>
              <a:srgbClr val="102A4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343400" y="1261872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sends a message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 taps a suggestion chip)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97680" y="2103120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DFBF7"/>
          </a:solidFill>
          <a:ln w="15875">
            <a:solidFill>
              <a:srgbClr val="102A4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43400" y="2130552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chat_history (SQLite)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2880360"/>
            <a:ext cx="3291840" cy="1051560"/>
          </a:xfrm>
          <a:prstGeom prst="diamond">
            <a:avLst/>
          </a:prstGeom>
          <a:solidFill>
            <a:srgbClr val="E0F7FA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288036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available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API key configured?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3383280" cy="685800"/>
          </a:xfrm>
          <a:prstGeom prst="roundRect">
            <a:avLst>
              <a:gd name="adj" fmla="val 12000"/>
            </a:avLst>
          </a:prstGeom>
          <a:solidFill>
            <a:srgbClr val="E7F5EC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4370832"/>
            <a:ext cx="3291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— Gemini AI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tool-calling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3383280" cy="685800"/>
          </a:xfrm>
          <a:prstGeom prst="roundRect">
            <a:avLst>
              <a:gd name="adj" fmla="val 12000"/>
            </a:avLst>
          </a:prstGeom>
          <a:solidFill>
            <a:srgbClr val="F4FBF6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5193792"/>
            <a:ext cx="3291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read-only SQL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queryDatabase() tool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167979" y="3252978"/>
            <a:ext cx="209461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40280" y="5029200"/>
            <a:ext cx="9144" cy="137160"/>
          </a:xfrm>
          <a:prstGeom prst="line">
            <a:avLst/>
          </a:prstGeom>
          <a:noFill/>
          <a:ln w="19050">
            <a:solidFill>
              <a:srgbClr val="1E8E5A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138160" y="4343400"/>
            <a:ext cx="3474720" cy="685800"/>
          </a:xfrm>
          <a:prstGeom prst="roundRect">
            <a:avLst>
              <a:gd name="adj" fmla="val 12000"/>
            </a:avLst>
          </a:prstGeom>
          <a:solidFill>
            <a:srgbClr val="FDEAE0"/>
          </a:solidFill>
          <a:ln w="15875">
            <a:solidFill>
              <a:srgbClr val="E8630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83880" y="4370832"/>
            <a:ext cx="33832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— local keyword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against SQLite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753138" y="3262122"/>
            <a:ext cx="170653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6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566160" y="6080760"/>
            <a:ext cx="5120640" cy="640080"/>
          </a:xfrm>
          <a:prstGeom prst="roundRect">
            <a:avLst>
              <a:gd name="adj" fmla="val 12857"/>
            </a:avLst>
          </a:prstGeom>
          <a:solidFill>
            <a:srgbClr val="102A43"/>
          </a:solidFill>
          <a:ln w="15875">
            <a:solidFill>
              <a:srgbClr val="102A4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11880" y="6108192"/>
            <a:ext cx="5029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Markdown answer in chat + follow-up suggestion pills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UDOMGo — IPT Group 10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C0740F7D-7C1B-C032-9F22-096675CE3F7A}"/>
              </a:ext>
            </a:extLst>
          </p:cNvPr>
          <p:cNvCxnSpPr>
            <a:cxnSpLocks/>
            <a:stCxn id="14" idx="2"/>
          </p:cNvCxnSpPr>
          <p:nvPr/>
        </p:nvCxnSpPr>
        <p:spPr>
          <a:xfrm rot="16200000" flipH="1">
            <a:off x="2592324" y="5500116"/>
            <a:ext cx="594362" cy="129845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43BDD8A7-7AED-19BC-E54E-A5A8947C4D98}"/>
              </a:ext>
            </a:extLst>
          </p:cNvPr>
          <p:cNvCxnSpPr>
            <a:cxnSpLocks/>
          </p:cNvCxnSpPr>
          <p:nvPr/>
        </p:nvCxnSpPr>
        <p:spPr>
          <a:xfrm rot="5400000">
            <a:off x="8631936" y="5097780"/>
            <a:ext cx="1371600" cy="123444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372F587-1F5D-7B34-D545-E27F39020C78}"/>
              </a:ext>
            </a:extLst>
          </p:cNvPr>
          <p:cNvCxnSpPr>
            <a:stCxn id="6" idx="2"/>
            <a:endCxn id="9" idx="0"/>
          </p:cNvCxnSpPr>
          <p:nvPr/>
        </p:nvCxnSpPr>
        <p:spPr>
          <a:xfrm>
            <a:off x="6126480" y="2651760"/>
            <a:ext cx="0" cy="228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E86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BACK, LOOKING AHEAD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Future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07492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8745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377440"/>
            <a:ext cx="4617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■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reliable offline fallback so the AI assistant still answers useful questions with no internet.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■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MapLibre + OpenFreeMap tiles + OSRM routing for accurate walking directions on campus.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■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the SQLite schema safely across 9 versions (v1 → v9) as new tables/features were added.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■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AI assistant safe: sandboxing it to read-only queries and blocking access to private tables.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074920" cy="4480560"/>
          </a:xfrm>
          <a:prstGeom prst="roundRect">
            <a:avLst>
              <a:gd name="adj" fmla="val 204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18745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9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377440"/>
            <a:ext cx="4617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■"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for exam dates, timetable changes and academic-calendar events.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■"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backend (e.g. Firebase) to sync accounts and chat history across devices.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■"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seeded reference data to cover every college/school, not just BSc Software Engineering.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■"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exam and deadline reminders directly inside the Chat and Guide tabs.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UDOMGo — IPT Group 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69582" y="-1156716"/>
            <a:ext cx="3657600" cy="3657600"/>
          </a:xfrm>
          <a:prstGeom prst="ellipse">
            <a:avLst/>
          </a:prstGeom>
          <a:solidFill>
            <a:srgbClr val="1976D2">
              <a:alpha val="15000"/>
            </a:srgbClr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3931920"/>
            <a:ext cx="5029200" cy="5029200"/>
          </a:xfrm>
          <a:prstGeom prst="ellipse">
            <a:avLst/>
          </a:prstGeom>
          <a:solidFill>
            <a:srgbClr val="E8630C">
              <a:alpha val="13000"/>
            </a:srgbClr>
          </a:solidFill>
          <a:ln w="12700">
            <a:solidFill>
              <a:srgbClr val="E863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D99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32588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UDOMGo puts UDOM's campus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every student's pocket.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7772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 for accounts, campus knowledge, AI-assisted Q&amp;A, and navigation.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online with Gemini AI, and still answers offline from local data.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a clear separation of UI, data and integration layers.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120640"/>
            <a:ext cx="4754880" cy="777240"/>
          </a:xfrm>
          <a:prstGeom prst="roundRect">
            <a:avLst>
              <a:gd name="adj" fmla="val 11765"/>
            </a:avLst>
          </a:prstGeom>
          <a:solidFill>
            <a:srgbClr val="E8630C"/>
          </a:solidFill>
          <a:ln w="12700">
            <a:solidFill>
              <a:srgbClr val="E8630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120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1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UDOMGo · IPT Group 10 · [Course Name]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UDOMGo — IPT Group 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2614</Words>
  <Application>Microsoft Office PowerPoint</Application>
  <PresentationFormat>Widescreen</PresentationFormat>
  <Paragraphs>340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UDOMGo - IPT Group 10 Presentation</dc:title>
  <dc:subject>PptxGenJS Presentation</dc:subject>
  <dc:creator>UDOMGo Group 10</dc:creator>
  <cp:lastModifiedBy>Willbroad Emanuel</cp:lastModifiedBy>
  <cp:revision>4</cp:revision>
  <dcterms:created xsi:type="dcterms:W3CDTF">2026-09-22T06:59:24Z</dcterms:created>
  <dcterms:modified xsi:type="dcterms:W3CDTF">2026-09-22T11:58:48Z</dcterms:modified>
</cp:coreProperties>
</file>